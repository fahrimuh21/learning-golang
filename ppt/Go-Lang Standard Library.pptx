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</p:sldIdLst>
  <p:sldSz cy="5143500" cx="9144000"/>
  <p:notesSz cx="6858000" cy="9144000"/>
  <p:embeddedFontLst>
    <p:embeddedFont>
      <p:font typeface="Raleway"/>
      <p:regular r:id="rId105"/>
      <p:bold r:id="rId106"/>
      <p:italic r:id="rId107"/>
      <p:boldItalic r:id="rId108"/>
    </p:embeddedFont>
    <p:embeddedFont>
      <p:font typeface="Lato"/>
      <p:regular r:id="rId109"/>
      <p:bold r:id="rId110"/>
      <p:italic r:id="rId111"/>
      <p:boldItalic r:id="rId1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8CDBF66-06DD-4FA9-8EAB-475BE80F0E2D}">
  <a:tblStyle styleId="{28CDBF66-06DD-4FA9-8EAB-475BE80F0E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07" Type="http://schemas.openxmlformats.org/officeDocument/2006/relationships/font" Target="fonts/Raleway-italic.fntdata"/><Relationship Id="rId106" Type="http://schemas.openxmlformats.org/officeDocument/2006/relationships/font" Target="fonts/Raleway-bold.fntdata"/><Relationship Id="rId105" Type="http://schemas.openxmlformats.org/officeDocument/2006/relationships/font" Target="fonts/Raleway-regular.fntdata"/><Relationship Id="rId104" Type="http://schemas.openxmlformats.org/officeDocument/2006/relationships/slide" Target="slides/slide97.xml"/><Relationship Id="rId109" Type="http://schemas.openxmlformats.org/officeDocument/2006/relationships/font" Target="fonts/Lato-regular.fntdata"/><Relationship Id="rId108" Type="http://schemas.openxmlformats.org/officeDocument/2006/relationships/font" Target="fonts/Raleway-boldItalic.fntdata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3" Type="http://schemas.openxmlformats.org/officeDocument/2006/relationships/slide" Target="slides/slide96.xml"/><Relationship Id="rId102" Type="http://schemas.openxmlformats.org/officeDocument/2006/relationships/slide" Target="slides/slide95.xml"/><Relationship Id="rId101" Type="http://schemas.openxmlformats.org/officeDocument/2006/relationships/slide" Target="slides/slide94.xml"/><Relationship Id="rId100" Type="http://schemas.openxmlformats.org/officeDocument/2006/relationships/slide" Target="slides/slide93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11" Type="http://schemas.openxmlformats.org/officeDocument/2006/relationships/slide" Target="slides/slide4.xml"/><Relationship Id="rId99" Type="http://schemas.openxmlformats.org/officeDocument/2006/relationships/slide" Target="slides/slide92.xml"/><Relationship Id="rId10" Type="http://schemas.openxmlformats.org/officeDocument/2006/relationships/slide" Target="slides/slide3.xml"/><Relationship Id="rId98" Type="http://schemas.openxmlformats.org/officeDocument/2006/relationships/slide" Target="slides/slide91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15" Type="http://schemas.openxmlformats.org/officeDocument/2006/relationships/slide" Target="slides/slide8.xml"/><Relationship Id="rId110" Type="http://schemas.openxmlformats.org/officeDocument/2006/relationships/font" Target="fonts/Lato-bold.fntdata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12" Type="http://schemas.openxmlformats.org/officeDocument/2006/relationships/font" Target="fonts/Lato-boldItalic.fntdata"/><Relationship Id="rId111" Type="http://schemas.openxmlformats.org/officeDocument/2006/relationships/font" Target="fonts/Lato-italic.fntdata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89ef3305ba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89ef3305ba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89ef3305ba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89ef3305ba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89ef3305ba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89ef3305ba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89ef3305b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89ef3305b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89ef3305ba_0_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89ef3305ba_0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89ef3305ba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89ef3305ba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89ef3305ba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89ef3305ba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89ef3305ba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89ef3305ba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89ef3305b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89ef3305b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89ef3305b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89ef3305b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89ef3305ba_0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89ef3305ba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89ef3305ba_0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89ef3305ba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89ef3305ba_0_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89ef3305ba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89ef3305ba_0_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89ef3305ba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89ef3305ba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89ef3305ba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89ef3305ba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89ef3305ba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89ef3305ba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89ef3305ba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89ef3305ba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89ef3305ba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89ef3305ba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89ef3305ba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89ef3305ba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89ef3305ba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89ef3305ba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89ef3305ba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89ef3305ba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89ef3305ba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89ef3305ba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89ef3305ba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89ef3305ba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89ef3305ba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89ef3305ba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89ef3305ba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89ef3305ba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89ef3305ba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89ef3305ba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89ef3305ba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89ef3305ba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89ef3305ba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89ef3305ba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89ef3305ba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89ef3305ba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89ef3305ba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89ef3305ba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89ef3305ba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89ef3305ba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289ef3305ba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89ef3305ba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89ef3305ba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89ef3305ba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89ef3305ba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89ef3305ba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89ef3305ba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89ef3305ba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89ef3305ba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89ef3305ba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89ef3305ba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89ef3305ba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89ef3305ba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89ef3305ba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289ef3305ba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89ef3305ba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289ef3305ba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89ef3305ba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89ef3305ba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89ef3305ba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89ef3305ba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89ef3305ba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289ef3305ba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89ef3305ba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89ef3305ba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89ef3305ba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289ef3305ba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89ef3305ba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289ef3305ba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89ef3305ba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289ef3305ba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89ef3305ba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289ef3305ba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89ef3305ba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289ef3305ba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289ef3305ba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289ef3305ba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289ef3305ba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289ef3305ba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89ef3305ba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289ef3305ba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89ef3305ba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289ef3305ba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89ef3305ba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289ef3305ba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89ef3305ba_0_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289ef3305ba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89ef3305ba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289ef3305ba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289ef3305ba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289ef3305ba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89ef3305ba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289ef3305ba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89ef3305ba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289ef3305ba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89ef3305ba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289ef3305ba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89ef3305ba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289ef3305ba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89ef3305ba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289ef3305ba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289ef3305ba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289ef3305ba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89ef3305ba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289ef3305ba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89ef3305ba_0_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289ef3305ba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289ef3305ba_0_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289ef3305ba_0_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289ef3305ba_0_7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289ef3305ba_0_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89ef3305ba_0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289ef3305ba_0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289ef3305ba_0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289ef3305ba_0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289ef3305ba_0_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289ef3305ba_0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289ef3305ba_0_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289ef3305ba_0_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89ef3305ba_0_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289ef3305ba_0_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289ef3305ba_0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289ef3305ba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289ef3305ba_0_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289ef3305ba_0_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89ef3305ba_0_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289ef3305ba_0_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89ef3305ba_0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289ef3305ba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289ef3305ba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289ef3305ba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289ef3305ba_0_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289ef3305ba_0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289ef3305ba_0_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289ef3305ba_0_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289ef3305ba_0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289ef3305ba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289ef3305ba_0_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289ef3305ba_0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289ef3305ba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289ef3305ba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289ef3305ba_0_8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289ef3305ba_0_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289ef3305ba_0_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289ef3305ba_0_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289ef3305ba_0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289ef3305ba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89ef3305ba_0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89ef3305ba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289ef3305ba_0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289ef3305ba_0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289ef3305ba_0_8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289ef3305ba_0_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289ef3305ba_0_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289ef3305ba_0_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289ef3305ba_0_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289ef3305ba_0_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289ef3305ba_0_9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289ef3305ba_0_9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289ef3305ba_0_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289ef3305ba_0_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89ef3305ba_0_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89ef3305ba_0_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289ef3305ba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289ef3305ba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289ef3305ba_0_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289ef3305ba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289ef3305ba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289ef3305ba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9" name="Google Shape;89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6" name="Google Shape;96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1" name="Google Shape;111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0" name="Google Shape;120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7" name="Google Shape;127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34" name="Google Shape;134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1" name="Google Shape;141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5" name="Google Shape;145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52" name="Google Shape;152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.me/khannedy" TargetMode="External"/><Relationship Id="rId4" Type="http://schemas.openxmlformats.org/officeDocument/2006/relationships/hyperlink" Target="https://www.linkedin.com/company/programmer-zaman-now/" TargetMode="External"/><Relationship Id="rId9" Type="http://schemas.openxmlformats.org/officeDocument/2006/relationships/hyperlink" Target="https://tiktok.com/@programmerzamannow" TargetMode="External"/><Relationship Id="rId5" Type="http://schemas.openxmlformats.org/officeDocument/2006/relationships/hyperlink" Target="https://facebook.com/ProgrammerZamanNow" TargetMode="External"/><Relationship Id="rId6" Type="http://schemas.openxmlformats.org/officeDocument/2006/relationships/hyperlink" Target="https://www.instagram.com/programmerzamannow" TargetMode="External"/><Relationship Id="rId7" Type="http://schemas.openxmlformats.org/officeDocument/2006/relationships/hyperlink" Target="https://www.youtube.com/c/ProgrammerZamanNow" TargetMode="External"/><Relationship Id="rId8" Type="http://schemas.openxmlformats.org/officeDocument/2006/relationships/hyperlink" Target="https://t.me/ProgrammerZamanNow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pkg.go.dev/std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pkg.go.dev/fm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pkg.go.dev/errors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olang.org/pkg/os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golang.org/pkg/flag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golang.org/pkg/strings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golang.org/pkg/strconv/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golang.org/pkg/math/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golang.org/pkg/container/list/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golang.org/pkg/container/ring/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golang.org/pkg/sort/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golang.org/pkg/time/" TargetMode="Externa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hyperlink" Target="https://golang.org/pkg/reflect/" TargetMode="Externa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9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7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hyperlink" Target="https://github.com/google/re2/wiki/Syntax" TargetMode="External"/><Relationship Id="rId4" Type="http://schemas.openxmlformats.org/officeDocument/2006/relationships/hyperlink" Target="https://golang.org/pkg/regexp/" TargetMode="Externa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hyperlink" Target="https://pkg.go.dev/encoding" TargetMode="Externa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7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3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8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hyperlink" Target="https://pkg.go.dev/slices" TargetMode="Externa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39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hyperlink" Target="https://pkg.go.dev/path" TargetMode="External"/><Relationship Id="rId4" Type="http://schemas.openxmlformats.org/officeDocument/2006/relationships/hyperlink" Target="https://pkg.go.dev/path/filepath" TargetMode="Externa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1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33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hyperlink" Target="https://pkg.go.dev/io" TargetMode="Externa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32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37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hyperlink" Target="https://pkg.go.dev/bufio" TargetMode="Externa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4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0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hyperlink" Target="https://chmod-calculator.com/" TargetMode="Externa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29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1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35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Go-Lang Standard Library</a:t>
            </a:r>
            <a:endParaRPr/>
          </a:p>
        </p:txBody>
      </p:sp>
      <p:sp>
        <p:nvSpPr>
          <p:cNvPr id="164" name="Google Shape;164;p2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6"/>
          <p:cNvPicPr preferRelativeResize="0"/>
          <p:nvPr/>
        </p:nvPicPr>
        <p:blipFill rotWithShape="1">
          <a:blip r:embed="rId3">
            <a:alphaModFix/>
          </a:blip>
          <a:srcRect b="0" l="0" r="0" t="23717"/>
          <a:stretch/>
        </p:blipFill>
        <p:spPr>
          <a:xfrm>
            <a:off x="1800" y="487410"/>
            <a:ext cx="9144003" cy="4656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FFFFFF"/>
                </a:solidFill>
              </a:rPr>
              <a:t>Eko Kurniawan Khannedy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729450" y="2078875"/>
            <a:ext cx="5366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Technical architect at one of the biggest ecommerce company in Indonesia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12+ years experiences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www.programmerzamannow.com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youtube.com/c/ProgrammerZamanNow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: </a:t>
            </a:r>
            <a:r>
              <a:rPr lang="id" u="sng">
                <a:solidFill>
                  <a:schemeClr val="hlink"/>
                </a:solidFill>
                <a:hlinkClick r:id="rId3"/>
              </a:rPr>
              <a:t>@khannedy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Linkedin : </a:t>
            </a:r>
            <a:r>
              <a:rPr lang="id" u="sng">
                <a:solidFill>
                  <a:schemeClr val="hlink"/>
                </a:solidFill>
                <a:hlinkClick r:id="rId4"/>
              </a:rPr>
              <a:t>https://www.linkedin.com/company/programmer-zaman-now/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Facebook : </a:t>
            </a:r>
            <a:r>
              <a:rPr lang="id" u="sng">
                <a:solidFill>
                  <a:schemeClr val="hlink"/>
                </a:solidFill>
                <a:hlinkClick r:id="rId5"/>
              </a:rPr>
              <a:t>fb.com/ProgrammerZamanNow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Instagram : </a:t>
            </a:r>
            <a:r>
              <a:rPr lang="id" u="sng">
                <a:solidFill>
                  <a:schemeClr val="hlink"/>
                </a:solidFill>
                <a:hlinkClick r:id="rId6"/>
              </a:rPr>
              <a:t>instagram.com/programmerzamannow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Youtube : </a:t>
            </a:r>
            <a:r>
              <a:rPr lang="id" u="sng">
                <a:solidFill>
                  <a:schemeClr val="hlink"/>
                </a:solidFill>
                <a:hlinkClick r:id="rId7"/>
              </a:rPr>
              <a:t>youtube.com/c/ProgrammerZamanNow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Channel : </a:t>
            </a:r>
            <a:r>
              <a:rPr lang="id" u="sng">
                <a:solidFill>
                  <a:schemeClr val="hlink"/>
                </a:solidFill>
                <a:hlinkClick r:id="rId8"/>
              </a:rPr>
              <a:t>t.me/ProgrammerZamanNow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Tiktok : </a:t>
            </a:r>
            <a:r>
              <a:rPr lang="id" u="sng">
                <a:solidFill>
                  <a:schemeClr val="hlink"/>
                </a:solidFill>
                <a:hlinkClick r:id="rId9"/>
              </a:rPr>
              <a:t>https://tiktok.com/@programmerzamannow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Email : echo.khannedy@gmail.com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Sebelum Belajar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Dasar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Standard Library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Standard Library</a:t>
            </a:r>
            <a:endParaRPr/>
          </a:p>
        </p:txBody>
      </p:sp>
      <p:sp>
        <p:nvSpPr>
          <p:cNvPr id="194" name="Google Shape;194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Go-Lang, selain merupakan bahasa pemrograman, Go-Lang juga menyediakan Standard Library (package bawaan) tanpa harus menggunakan package dari luar buatan orang lain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Contoh pada Kelas Go-Lang Dasar, kita sudah belajar package bernama fmt atau errors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Selain package tersebut, sebenarnya masih banyak package lainnya yang bisa kita gunakan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Pada materi ini, kita akan coba bahas lebih detail package-package yang terdapat sebagai Standard Library di Go-Lang yang sering digunakan saat kita membuat aplikasi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https://pkg.go.dev/std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Project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Project</a:t>
            </a:r>
            <a:endParaRPr/>
          </a:p>
        </p:txBody>
      </p:sp>
      <p:sp>
        <p:nvSpPr>
          <p:cNvPr id="205" name="Google Shape;205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Buatlah folder belajar-golang-standard-library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 mod init belajar-golang-standard-library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fmt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fmt</a:t>
            </a:r>
            <a:endParaRPr/>
          </a:p>
        </p:txBody>
      </p:sp>
      <p:sp>
        <p:nvSpPr>
          <p:cNvPr id="216" name="Google Shape;216;p3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Sebelumnya kita sudah sering menggunakan package fmt dengan menggunakan function Println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Selain Println, masih banyak function yang terdapat di package fmt, contohnya banyak digunakan untuk melakukan format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https://pkg.go.dev/fmt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Package fmt</a:t>
            </a:r>
            <a:endParaRPr/>
          </a:p>
        </p:txBody>
      </p:sp>
      <p:pic>
        <p:nvPicPr>
          <p:cNvPr id="222" name="Google Shape;22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201025" cy="26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errors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errors</a:t>
            </a:r>
            <a:endParaRPr/>
          </a:p>
        </p:txBody>
      </p:sp>
      <p:sp>
        <p:nvSpPr>
          <p:cNvPr id="233" name="Google Shape;233;p3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Sebelumnya kita sudah membahas tentang interface error yang merupakan representasi dari error di Go-Lang, dan membuat error menggunakan function errors.New()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Sebenarnya masih banyak yang bisa kita lakukan menggunakan package errors, contohnya ketika kita ingin membuat beberapa value error yang berbeda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https://pkg.go.dev/errors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Membuat Error</a:t>
            </a:r>
            <a:endParaRPr/>
          </a:p>
        </p:txBody>
      </p:sp>
      <p:pic>
        <p:nvPicPr>
          <p:cNvPr id="239" name="Google Shape;23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220075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Menggunakan Error</a:t>
            </a:r>
            <a:endParaRPr/>
          </a:p>
        </p:txBody>
      </p:sp>
      <p:pic>
        <p:nvPicPr>
          <p:cNvPr id="245" name="Google Shape;24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965761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Mengecek Jenis Error</a:t>
            </a:r>
            <a:endParaRPr/>
          </a:p>
        </p:txBody>
      </p:sp>
      <p:sp>
        <p:nvSpPr>
          <p:cNvPr id="251" name="Google Shape;251;p4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Misal kita membuat jenis error sendiri, lalu kita ingin mengecek jenis errornya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menggunakan errors.Is() untuk mengecek jenis type error nya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Mengecek Jenis Error</a:t>
            </a:r>
            <a:endParaRPr/>
          </a:p>
        </p:txBody>
      </p:sp>
      <p:pic>
        <p:nvPicPr>
          <p:cNvPr id="257" name="Google Shape;25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362957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os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os</a:t>
            </a:r>
            <a:endParaRPr/>
          </a:p>
        </p:txBody>
      </p:sp>
      <p:sp>
        <p:nvSpPr>
          <p:cNvPr id="268" name="Google Shape;268;p4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telah menyediakan banyak sekali package bawaan, salah satunya adalah package os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os berisikan fungsionalitas untuk mengakses fitur sistem operasi secara independen (bisa digunakan  disemua sistem operasi)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https://golang.org/pkg/os/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os (1)</a:t>
            </a:r>
            <a:endParaRPr/>
          </a:p>
        </p:txBody>
      </p:sp>
      <p:pic>
        <p:nvPicPr>
          <p:cNvPr id="274" name="Google Shape;27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os (2)</a:t>
            </a:r>
            <a:endParaRPr/>
          </a:p>
        </p:txBody>
      </p:sp>
      <p:pic>
        <p:nvPicPr>
          <p:cNvPr id="280" name="Google Shape;28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flag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flag</a:t>
            </a:r>
            <a:endParaRPr/>
          </a:p>
        </p:txBody>
      </p:sp>
      <p:sp>
        <p:nvSpPr>
          <p:cNvPr id="291" name="Google Shape;291;p4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flag berisikan fungsionalitas untuk memparsing command line argument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https://golang.org/pkg/flag/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flag</a:t>
            </a:r>
            <a:endParaRPr/>
          </a:p>
        </p:txBody>
      </p:sp>
      <p:pic>
        <p:nvPicPr>
          <p:cNvPr id="297" name="Google Shape;29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strings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strings</a:t>
            </a:r>
            <a:endParaRPr/>
          </a:p>
        </p:txBody>
      </p:sp>
      <p:sp>
        <p:nvSpPr>
          <p:cNvPr id="308" name="Google Shape;308;p5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strings adalah package yang berisikan function-function untuk memanipulasi tipe data String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Ada banyak sekali function yang bisa kita gunakan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https://golang.org/pkg/strings/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Beberapa Function di Package strings</a:t>
            </a:r>
            <a:endParaRPr/>
          </a:p>
        </p:txBody>
      </p:sp>
      <p:graphicFrame>
        <p:nvGraphicFramePr>
          <p:cNvPr id="314" name="Google Shape;314;p51"/>
          <p:cNvGraphicFramePr/>
          <p:nvPr/>
        </p:nvGraphicFramePr>
        <p:xfrm>
          <a:off x="952500" y="201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{28CDBF66-06DD-4FA9-8EAB-475BE80F0E2D}</a:tableStyleId>
              </a:tblPr>
              <a:tblGrid>
                <a:gridCol w="2889200"/>
                <a:gridCol w="4349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Function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Kegunaan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strings.Trim(string, cutset)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Memotong cutset di awal dan akhir string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strings.ToLower(string)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Membuat semua karakter string menjadi lower case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strings.ToUpper(string)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Membuat semua karakter string menjadi upper case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strings.Split(string, separator)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Memotong string berdasarkan separator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strings.Contains(string, search)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Mengecek apakah string mengandung string lain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strings.ReplaceAll(string, from, to)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Mengubah semua string dari from ke to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strings</a:t>
            </a:r>
            <a:endParaRPr/>
          </a:p>
        </p:txBody>
      </p:sp>
      <p:pic>
        <p:nvPicPr>
          <p:cNvPr id="320" name="Google Shape;32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strconv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strconv</a:t>
            </a:r>
            <a:endParaRPr/>
          </a:p>
        </p:txBody>
      </p:sp>
      <p:sp>
        <p:nvSpPr>
          <p:cNvPr id="331" name="Google Shape;331;p5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Sebelumnya kita sudah belajar cara konversi tipe data, misal dari int32 ke int34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Bagaimana jika kita butuh melakukan konversi yang tipe datanya berbeda? Misal dari int ke string, atau sebaliknya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Hal tersebut bisa kita lakukan dengan bantuan package strconv (string conversion)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https://golang.org/pkg/strconv/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Beberapa Function di Package strconv</a:t>
            </a:r>
            <a:endParaRPr/>
          </a:p>
        </p:txBody>
      </p:sp>
      <p:graphicFrame>
        <p:nvGraphicFramePr>
          <p:cNvPr id="337" name="Google Shape;337;p55"/>
          <p:cNvGraphicFramePr/>
          <p:nvPr/>
        </p:nvGraphicFramePr>
        <p:xfrm>
          <a:off x="952500" y="201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{28CDBF66-06DD-4FA9-8EAB-475BE80F0E2D}</a:tableStyleId>
              </a:tblPr>
              <a:tblGrid>
                <a:gridCol w="2889200"/>
                <a:gridCol w="4349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Function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Kegunaan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strconv.parseBool(string)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Mengubah string ke bool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strconv.parseFloat(string)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Mengubah string ke float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strconv.parseInt(string)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Mengubah string ke int64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strconv.FormatBool(bool)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Mengubah bool ke string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strconv.FormatFloat(float, … 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Mengubah float64 ke string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strconv.FormatInt(int, … 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Mengubah int64 ke string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strconv</a:t>
            </a:r>
            <a:endParaRPr/>
          </a:p>
        </p:txBody>
      </p:sp>
      <p:pic>
        <p:nvPicPr>
          <p:cNvPr id="343" name="Google Shape;34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math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math</a:t>
            </a:r>
            <a:endParaRPr/>
          </a:p>
        </p:txBody>
      </p:sp>
      <p:sp>
        <p:nvSpPr>
          <p:cNvPr id="354" name="Google Shape;354;p5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math merupakan package yang berisikan constant dan fungsi matematika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https://golang.org/pkg/math/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Beberapa Function di Package math</a:t>
            </a:r>
            <a:endParaRPr/>
          </a:p>
        </p:txBody>
      </p:sp>
      <p:graphicFrame>
        <p:nvGraphicFramePr>
          <p:cNvPr id="360" name="Google Shape;360;p59"/>
          <p:cNvGraphicFramePr/>
          <p:nvPr/>
        </p:nvGraphicFramePr>
        <p:xfrm>
          <a:off x="952500" y="201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{28CDBF66-06DD-4FA9-8EAB-475BE80F0E2D}</a:tableStyleId>
              </a:tblPr>
              <a:tblGrid>
                <a:gridCol w="2889200"/>
                <a:gridCol w="4349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Function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Kegunaan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math.Round(float64)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Membulatkan float64 keatas atau kebawah, sesuai dengan yang paling dekat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math.Floor(float64)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Membulatkan float64 kebawah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math.Ceil(float64)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Membulatkan float64 keatas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math.Max(float64, float64)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Mengembalikan nilai float64 paling besar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math.Min(float64, float64)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Mengembalikan nilai float64 paling kecil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math</a:t>
            </a:r>
            <a:endParaRPr/>
          </a:p>
        </p:txBody>
      </p:sp>
      <p:pic>
        <p:nvPicPr>
          <p:cNvPr id="366" name="Google Shape;36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container/list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container/list</a:t>
            </a:r>
            <a:endParaRPr/>
          </a:p>
        </p:txBody>
      </p:sp>
      <p:sp>
        <p:nvSpPr>
          <p:cNvPr id="377" name="Google Shape;377;p6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container/list adalah implementasi struktur data double linked list di Go-Lang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https://golang.org/pkg/container/list/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Struktur Data Double Linked List</a:t>
            </a:r>
            <a:endParaRPr/>
          </a:p>
        </p:txBody>
      </p:sp>
      <p:pic>
        <p:nvPicPr>
          <p:cNvPr id="383" name="Google Shape;38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638" y="2901450"/>
            <a:ext cx="7962731" cy="53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container/list</a:t>
            </a:r>
            <a:endParaRPr/>
          </a:p>
        </p:txBody>
      </p:sp>
      <p:pic>
        <p:nvPicPr>
          <p:cNvPr id="389" name="Google Shape;389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container/ring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container/ring</a:t>
            </a:r>
            <a:endParaRPr/>
          </a:p>
        </p:txBody>
      </p:sp>
      <p:sp>
        <p:nvSpPr>
          <p:cNvPr id="400" name="Google Shape;400;p6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container/ring adalah implementasi struktur data circular list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Circular list adalah struktur data ring, dimana diakhir element akan kembali ke element awal (HEAD)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https://golang.org/pkg/container/ring/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Struktur Data Circular List</a:t>
            </a:r>
            <a:endParaRPr/>
          </a:p>
        </p:txBody>
      </p:sp>
      <p:pic>
        <p:nvPicPr>
          <p:cNvPr id="406" name="Google Shape;406;p67"/>
          <p:cNvPicPr preferRelativeResize="0"/>
          <p:nvPr/>
        </p:nvPicPr>
        <p:blipFill rotWithShape="1">
          <a:blip r:embed="rId3">
            <a:alphaModFix/>
          </a:blip>
          <a:srcRect b="16255" l="0" r="0" t="0"/>
          <a:stretch/>
        </p:blipFill>
        <p:spPr>
          <a:xfrm>
            <a:off x="785813" y="2273225"/>
            <a:ext cx="7572375" cy="22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container/ring</a:t>
            </a:r>
            <a:endParaRPr/>
          </a:p>
        </p:txBody>
      </p:sp>
      <p:pic>
        <p:nvPicPr>
          <p:cNvPr id="412" name="Google Shape;41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sort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7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sort</a:t>
            </a:r>
            <a:endParaRPr/>
          </a:p>
        </p:txBody>
      </p:sp>
      <p:sp>
        <p:nvSpPr>
          <p:cNvPr id="423" name="Google Shape;423;p7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sort adalah package yang berisikan utilitas untuk proses pengurutan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Agar data kita bisa diurutkan, kita harus mengimplementasikan kontrak di interface sort.Interface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https://golang.org/pkg/sort/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7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sort.Interface</a:t>
            </a:r>
            <a:endParaRPr/>
          </a:p>
        </p:txBody>
      </p:sp>
      <p:pic>
        <p:nvPicPr>
          <p:cNvPr id="429" name="Google Shape;42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7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sort (1)</a:t>
            </a:r>
            <a:endParaRPr/>
          </a:p>
        </p:txBody>
      </p:sp>
      <p:pic>
        <p:nvPicPr>
          <p:cNvPr id="435" name="Google Shape;43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7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sort (2)</a:t>
            </a:r>
            <a:endParaRPr/>
          </a:p>
        </p:txBody>
      </p:sp>
      <p:pic>
        <p:nvPicPr>
          <p:cNvPr id="441" name="Google Shape;44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sort (3)</a:t>
            </a:r>
            <a:endParaRPr/>
          </a:p>
        </p:txBody>
      </p:sp>
      <p:pic>
        <p:nvPicPr>
          <p:cNvPr id="447" name="Google Shape;44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7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time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7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time</a:t>
            </a:r>
            <a:endParaRPr/>
          </a:p>
        </p:txBody>
      </p:sp>
      <p:sp>
        <p:nvSpPr>
          <p:cNvPr id="458" name="Google Shape;458;p7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time adalah package yang berisikan fungsionalitas untuk management waktu di Go-Lang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https://golang.org/pkg/time/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Beberapa Function di Package time</a:t>
            </a:r>
            <a:endParaRPr/>
          </a:p>
        </p:txBody>
      </p:sp>
      <p:graphicFrame>
        <p:nvGraphicFramePr>
          <p:cNvPr id="464" name="Google Shape;464;p77"/>
          <p:cNvGraphicFramePr/>
          <p:nvPr/>
        </p:nvGraphicFramePr>
        <p:xfrm>
          <a:off x="952500" y="201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{28CDBF66-06DD-4FA9-8EAB-475BE80F0E2D}</a:tableStyleId>
              </a:tblPr>
              <a:tblGrid>
                <a:gridCol w="2889200"/>
                <a:gridCol w="4349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Function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Kegunaan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time.Now()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Untuk mendapatkan waktu saat ini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time.Date(...)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Untuk membuat waktu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time.Parse(layout, string)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Untuk memparsing waktu dari string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time</a:t>
            </a:r>
            <a:endParaRPr/>
          </a:p>
        </p:txBody>
      </p:sp>
      <p:pic>
        <p:nvPicPr>
          <p:cNvPr id="470" name="Google Shape;47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Duration</a:t>
            </a:r>
            <a:endParaRPr/>
          </a:p>
        </p:txBody>
      </p:sp>
      <p:sp>
        <p:nvSpPr>
          <p:cNvPr id="476" name="Google Shape;476;p7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menggunakan tipe data waktu, kadang kita butuh data berupa durasi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tipe memiliki type Duration, yang sebenarnya adalah alias untuk int64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terdapat banyak method yang bisa kita gunakan untuk memanipulasi Duration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8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Duration</a:t>
            </a:r>
            <a:endParaRPr/>
          </a:p>
        </p:txBody>
      </p:sp>
      <p:pic>
        <p:nvPicPr>
          <p:cNvPr id="482" name="Google Shape;482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6334125" cy="146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8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reflect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8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reflect</a:t>
            </a:r>
            <a:endParaRPr/>
          </a:p>
        </p:txBody>
      </p:sp>
      <p:sp>
        <p:nvSpPr>
          <p:cNvPr id="493" name="Google Shape;493;p8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Dalam bahasa pemrograman, biasanya ada fitur Reflection, dimana kita bisa melihat struktur kode kita pada saat aplikasi sedang berjalan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Hal ini bisa dilakukan di Go-Lang dengan menggunakan package reflect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Fitur ini mungkin tidak bisa dibahas secara lengkap dalam satu video, Anda bisa eksplorasi package reflec ini secara otodidak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Reflection sangat berguna ketika kita ingin membuat library yang general sehingga mudah digunakan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https://golang.org/pkg/reflect/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reflect</a:t>
            </a:r>
            <a:endParaRPr/>
          </a:p>
        </p:txBody>
      </p:sp>
      <p:pic>
        <p:nvPicPr>
          <p:cNvPr id="499" name="Google Shape;499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8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StructTag</a:t>
            </a:r>
            <a:endParaRPr/>
          </a:p>
        </p:txBody>
      </p:sp>
      <p:pic>
        <p:nvPicPr>
          <p:cNvPr id="505" name="Google Shape;50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8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Validation Library</a:t>
            </a:r>
            <a:endParaRPr/>
          </a:p>
        </p:txBody>
      </p:sp>
      <p:pic>
        <p:nvPicPr>
          <p:cNvPr id="511" name="Google Shape;511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8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regexp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8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regexp</a:t>
            </a:r>
            <a:endParaRPr/>
          </a:p>
        </p:txBody>
      </p:sp>
      <p:sp>
        <p:nvSpPr>
          <p:cNvPr id="522" name="Google Shape;522;p8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regexp adalah utilitas di Go-Lang untuk melakukan pencarian regular expression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Regular expression di Go-Lang menggunakan library C yang dibuat Google bernama RE2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https://github.com/google/re2/wiki/Syntax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https://golang.org/pkg/regexp/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8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Beberapa Function di Package regexp</a:t>
            </a:r>
            <a:endParaRPr/>
          </a:p>
        </p:txBody>
      </p:sp>
      <p:graphicFrame>
        <p:nvGraphicFramePr>
          <p:cNvPr id="528" name="Google Shape;528;p88"/>
          <p:cNvGraphicFramePr/>
          <p:nvPr/>
        </p:nvGraphicFramePr>
        <p:xfrm>
          <a:off x="952500" y="201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{28CDBF66-06DD-4FA9-8EAB-475BE80F0E2D}</a:tableStyleId>
              </a:tblPr>
              <a:tblGrid>
                <a:gridCol w="2889200"/>
                <a:gridCol w="4349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Function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Kegunaan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regexp.MustCompile(string)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Membuat Regexp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Regexp.MatchString(string) bool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Mengecek apakah Regexp match dengan string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Regexp.FindAllString(string, max)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Mencari string yang match dengan maximum jumlah hasil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8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regexp</a:t>
            </a:r>
            <a:endParaRPr/>
          </a:p>
        </p:txBody>
      </p:sp>
      <p:pic>
        <p:nvPicPr>
          <p:cNvPr id="534" name="Google Shape;534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9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encoding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9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encoding</a:t>
            </a:r>
            <a:endParaRPr/>
          </a:p>
        </p:txBody>
      </p:sp>
      <p:sp>
        <p:nvSpPr>
          <p:cNvPr id="545" name="Google Shape;545;p9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Golang menyediakan package encoding untuk melakukan encode dan decode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https://pkg.go.dev/encoding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Golang menyediakan berbagai macam algoritma untuk encoding, contoh yang populer adalah base64, csv dan json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9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Base64</a:t>
            </a:r>
            <a:endParaRPr/>
          </a:p>
        </p:txBody>
      </p:sp>
      <p:pic>
        <p:nvPicPr>
          <p:cNvPr id="551" name="Google Shape;551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310202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9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CSV Reader</a:t>
            </a:r>
            <a:endParaRPr/>
          </a:p>
        </p:txBody>
      </p:sp>
      <p:pic>
        <p:nvPicPr>
          <p:cNvPr id="557" name="Google Shape;557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19312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9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CSV Writer</a:t>
            </a:r>
            <a:endParaRPr/>
          </a:p>
        </p:txBody>
      </p:sp>
      <p:pic>
        <p:nvPicPr>
          <p:cNvPr id="563" name="Google Shape;563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610600" cy="15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9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slices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9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slices</a:t>
            </a:r>
            <a:endParaRPr/>
          </a:p>
        </p:txBody>
      </p:sp>
      <p:sp>
        <p:nvSpPr>
          <p:cNvPr id="574" name="Google Shape;574;p9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Golang versi terbaru, terdapat fitur bernama Generic, fitur ini akan kita bahas khusus dikelas Golang Generic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Fitur Generic ini membuat kita bisa membuat parameter dengan tipe yang bisa berubah-ubah, tanpa harus menggunakan interface kosong / any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Salah satu package yang menggunakan fitur Generic ini adalah package slices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slices ini digunakan untuk memanipulasi data di slice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https://pkg.go.dev/slices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9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Package slices</a:t>
            </a:r>
            <a:endParaRPr/>
          </a:p>
        </p:txBody>
      </p:sp>
      <p:pic>
        <p:nvPicPr>
          <p:cNvPr id="580" name="Google Shape;58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786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9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path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9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path</a:t>
            </a:r>
            <a:endParaRPr/>
          </a:p>
        </p:txBody>
      </p:sp>
      <p:sp>
        <p:nvSpPr>
          <p:cNvPr id="591" name="Google Shape;591;p9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path digunakan untuk memanipulasi data path seperti path di URL atau path di File System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Secara default Package path menggunakan slash sebagai karakter path nya, oleh karena itu cocok untuk data URL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https://pkg.go.dev/path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jika ingin menggunakan untuk memanipulasi path di File System, karena Windows menggunakan backslash, maka khusus untuk File System, perlu menggunakan pacakge path/filepath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4"/>
              </a:rPr>
              <a:t>https://pkg.go.dev/path/filepath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0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Package path</a:t>
            </a:r>
            <a:endParaRPr/>
          </a:p>
        </p:txBody>
      </p:sp>
      <p:pic>
        <p:nvPicPr>
          <p:cNvPr id="597" name="Google Shape;597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877175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0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Package path/filepath</a:t>
            </a:r>
            <a:endParaRPr/>
          </a:p>
        </p:txBody>
      </p:sp>
      <p:pic>
        <p:nvPicPr>
          <p:cNvPr id="603" name="Google Shape;603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305800" cy="24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0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io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0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io</a:t>
            </a:r>
            <a:endParaRPr/>
          </a:p>
        </p:txBody>
      </p:sp>
      <p:sp>
        <p:nvSpPr>
          <p:cNvPr id="614" name="Google Shape;614;p10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IO atau singkatan dari Input Output, merupakan fitur di Golang yang digunakan sebagai standard untuk proses Input Output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Golang, semua mekanisme input output pasti mengikuti standard package io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https://pkg.go.dev/io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0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Reader</a:t>
            </a:r>
            <a:endParaRPr/>
          </a:p>
        </p:txBody>
      </p:sp>
      <p:sp>
        <p:nvSpPr>
          <p:cNvPr id="620" name="Google Shape;620;p10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membaca input, Golang menggunakan kontrak interface bernama Reader yang terdapat di package io</a:t>
            </a:r>
            <a:endParaRPr/>
          </a:p>
        </p:txBody>
      </p:sp>
      <p:pic>
        <p:nvPicPr>
          <p:cNvPr id="621" name="Google Shape;621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" y="2901688"/>
            <a:ext cx="9029700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0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Writer</a:t>
            </a:r>
            <a:endParaRPr/>
          </a:p>
        </p:txBody>
      </p:sp>
      <p:sp>
        <p:nvSpPr>
          <p:cNvPr id="627" name="Google Shape;627;p10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menulis ke output, Golang menggunakan kontrak interface bernama Writer yang terdapat di package io</a:t>
            </a:r>
            <a:endParaRPr/>
          </a:p>
        </p:txBody>
      </p:sp>
      <p:pic>
        <p:nvPicPr>
          <p:cNvPr id="628" name="Google Shape;628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927100"/>
            <a:ext cx="8837925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0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Implementasi IO</a:t>
            </a:r>
            <a:endParaRPr/>
          </a:p>
        </p:txBody>
      </p:sp>
      <p:sp>
        <p:nvSpPr>
          <p:cNvPr id="634" name="Google Shape;634;p10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Penggunaan dari IO sendiri di Golang terdapat dibanyak package, sebelumnya contohnya kita menggunakan CSV Reader dan CSV Writer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Karena Package IO sebenarnya hanya kontrak untuk IO, untuk implementasinya kita harus lakukan sendiri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Tapi untungnya, Golang juga menyediakan package untuk mengimplementasikan IO secara mudah, yaitu menggunakan package bufio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0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bufio 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0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bufio</a:t>
            </a:r>
            <a:endParaRPr/>
          </a:p>
        </p:txBody>
      </p:sp>
      <p:sp>
        <p:nvSpPr>
          <p:cNvPr id="645" name="Google Shape;645;p10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bufio atau singkatan dari buffered io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ini digunakan untuk membuat data IO seperti Reader dan Writer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https://pkg.go.dev/bufio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0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Reader</a:t>
            </a:r>
            <a:endParaRPr/>
          </a:p>
        </p:txBody>
      </p:sp>
      <p:pic>
        <p:nvPicPr>
          <p:cNvPr id="651" name="Google Shape;651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31111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1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Writer</a:t>
            </a:r>
            <a:endParaRPr/>
          </a:p>
        </p:txBody>
      </p:sp>
      <p:pic>
        <p:nvPicPr>
          <p:cNvPr id="657" name="Google Shape;657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181975" cy="13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1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File Manipulation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1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File Management</a:t>
            </a:r>
            <a:endParaRPr/>
          </a:p>
        </p:txBody>
      </p:sp>
      <p:sp>
        <p:nvSpPr>
          <p:cNvPr id="668" name="Google Shape;668;p11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package os, terdapat File Management, namun sengaja ditunda pembahasannya, karena kita harus tahu dulu tentang IO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kita membuat atau membaca file menggunakan Package os, struct File merupakan implementasi dari io.Reader dan io.Writer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Oleh karena itu, kita bisa melakukan baca dan tulis terhadap File tersebut menggunakan Package io / bufio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Open File</a:t>
            </a:r>
            <a:endParaRPr/>
          </a:p>
        </p:txBody>
      </p:sp>
      <p:sp>
        <p:nvSpPr>
          <p:cNvPr id="674" name="Google Shape;674;p11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/ membaca File, kita bisa menggunakan os.OpenFile(name, flag, permission)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name berisikan nama file, bisa absolute atau relative / local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flag merupakan penanda file, apakah untuk membaca, menulis, dan lain-lain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permission, merupakan permission yang diperlukan ketika membuat file, bisa kita simulasikan disini : </a:t>
            </a:r>
            <a:r>
              <a:rPr lang="id" u="sng">
                <a:solidFill>
                  <a:schemeClr val="hlink"/>
                </a:solidFill>
                <a:hlinkClick r:id="rId3"/>
              </a:rPr>
              <a:t>https://chmod-calculator.com/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File Flag di Package os</a:t>
            </a:r>
            <a:endParaRPr/>
          </a:p>
        </p:txBody>
      </p:sp>
      <p:pic>
        <p:nvPicPr>
          <p:cNvPr id="680" name="Google Shape;680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738377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Membuat File Baru</a:t>
            </a:r>
            <a:endParaRPr/>
          </a:p>
        </p:txBody>
      </p:sp>
      <p:pic>
        <p:nvPicPr>
          <p:cNvPr id="686" name="Google Shape;686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553325" cy="25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1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Membaca File</a:t>
            </a:r>
            <a:endParaRPr/>
          </a:p>
        </p:txBody>
      </p:sp>
      <p:pic>
        <p:nvPicPr>
          <p:cNvPr id="692" name="Google Shape;692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4259300" cy="148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1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4100" y="2006250"/>
            <a:ext cx="4019550" cy="29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Membaca dan Menambah ke File</a:t>
            </a:r>
            <a:endParaRPr/>
          </a:p>
        </p:txBody>
      </p:sp>
      <p:pic>
        <p:nvPicPr>
          <p:cNvPr id="699" name="Google Shape;699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40105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1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Lainnya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Lainnya</a:t>
            </a:r>
            <a:endParaRPr/>
          </a:p>
        </p:txBody>
      </p:sp>
      <p:sp>
        <p:nvSpPr>
          <p:cNvPr id="710" name="Google Shape;710;p1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Sebenernya masih ada beberapa package lainnya yang tidak akan dibahas dikelas ini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Hal ini dikarenakan package tersebut terlalu kompleks jika harus dibahas dalam 1 chapter, oleh karena itu package-package berikut akan dibahas di kelas tersendiri, seperti 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Context, Net, Testing, Template, Database, JSON dan Embed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12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  <p:sp>
        <p:nvSpPr>
          <p:cNvPr id="721" name="Google Shape;721;p1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Modules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Unit Test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Goroutine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Database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Web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