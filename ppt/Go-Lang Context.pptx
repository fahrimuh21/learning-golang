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y="5143500" cx="9144000"/>
  <p:notesSz cx="6858000" cy="9144000"/>
  <p:embeddedFontLst>
    <p:embeddedFont>
      <p:font typeface="Raleway"/>
      <p:regular r:id="rId48"/>
      <p:bold r:id="rId49"/>
      <p:italic r:id="rId50"/>
      <p:boldItalic r:id="rId51"/>
    </p:embeddedFont>
    <p:embeddedFont>
      <p:font typeface="Lato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218E031-1559-4600-99D9-689720C6DDF6}">
  <a:tblStyle styleId="{9218E031-1559-4600-99D9-689720C6DDF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Raleway-regular.fntdata"/><Relationship Id="rId47" Type="http://schemas.openxmlformats.org/officeDocument/2006/relationships/slide" Target="slides/slide40.xml"/><Relationship Id="rId49" Type="http://schemas.openxmlformats.org/officeDocument/2006/relationships/font" Target="fonts/Raleway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Raleway-boldItalic.fntdata"/><Relationship Id="rId50" Type="http://schemas.openxmlformats.org/officeDocument/2006/relationships/font" Target="fonts/Raleway-italic.fntdata"/><Relationship Id="rId53" Type="http://schemas.openxmlformats.org/officeDocument/2006/relationships/font" Target="fonts/Lato-bold.fntdata"/><Relationship Id="rId52" Type="http://schemas.openxmlformats.org/officeDocument/2006/relationships/font" Target="fonts/Lato-regular.fntdata"/><Relationship Id="rId11" Type="http://schemas.openxmlformats.org/officeDocument/2006/relationships/slide" Target="slides/slide4.xml"/><Relationship Id="rId55" Type="http://schemas.openxmlformats.org/officeDocument/2006/relationships/font" Target="fonts/Lato-boldItalic.fntdata"/><Relationship Id="rId10" Type="http://schemas.openxmlformats.org/officeDocument/2006/relationships/slide" Target="slides/slide3.xml"/><Relationship Id="rId54" Type="http://schemas.openxmlformats.org/officeDocument/2006/relationships/font" Target="fonts/Lato-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ba36251cad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ba36251cad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ba36251cad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ba36251cad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ba36251cad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ba36251cad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ba36251cad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ba36251cad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ba36251cad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ba36251cad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ba36251cad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ba36251cad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ba36251cad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ba36251cad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ba36251cad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ba36251cad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ba36251cad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ba36251cad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ba36251cad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ba36251cad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ba36251cad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ba36251cad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ba36251cad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ba36251cad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ba36251cad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ba36251cad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ba36251cad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ba36251cad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ba36251cad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ba36251cad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ba36251cad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ba36251cad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ba36251cad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ba36251cad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ba36251cad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ba36251cad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ba36251cad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ba36251cad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ba36251cad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ba36251cad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ba36251cad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ba36251cad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ba36251cad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ba36251cad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ba36251cad_0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ba36251cad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ba36251cad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ba36251cad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ba36251cad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ba36251cad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ba36251cad_0_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ba36251cad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ba36251cad_0_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ba36251cad_0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ba36251cad_0_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ba36251cad_0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ba36251cad_0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ba36251cad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ba36251cad_0_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ba36251cad_0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ba36251cad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ba36251cad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ba36251cad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ba36251cad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ba36251cad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ba36251cad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ba36251cad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ba36251cad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ba36251cad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ba36251cad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ba36251cad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ba36251cad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ba36251cad_0_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ba36251cad_0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ba36251cad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ba36251cad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ba36251cad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ba36251cad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" name="Google Shape;88;p1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9" name="Google Shape;89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14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6" name="Google Shape;96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" name="Google Shape;102;p1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3" name="Google Shape;103;p1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0" name="Google Shape;110;p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11" name="Google Shape;111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1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5" name="Google Shape;115;p17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" name="Google Shape;119;p1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0" name="Google Shape;120;p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1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3" name="Google Shape;123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6" name="Google Shape;126;p1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7" name="Google Shape;127;p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" name="Google Shape;129;p19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2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34" name="Google Shape;134;p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20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" name="Google Shape;140;p2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41" name="Google Shape;141;p2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" name="Google Shape;143;p2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4" name="Google Shape;144;p2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45" name="Google Shape;145;p2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6" name="Google Shape;146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9" name="Google Shape;149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23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52" name="Google Shape;152;p2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" name="Google Shape;154;p23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t.me/khannedy" TargetMode="External"/><Relationship Id="rId4" Type="http://schemas.openxmlformats.org/officeDocument/2006/relationships/hyperlink" Target="https://facebook.com/ProgrammerZamanNow" TargetMode="External"/><Relationship Id="rId5" Type="http://schemas.openxmlformats.org/officeDocument/2006/relationships/hyperlink" Target="https://www.instagram.com/programmerzamannow" TargetMode="External"/><Relationship Id="rId6" Type="http://schemas.openxmlformats.org/officeDocument/2006/relationships/hyperlink" Target="https://www.youtube.com/c/ProgrammerZamanNow" TargetMode="External"/><Relationship Id="rId7" Type="http://schemas.openxmlformats.org/officeDocument/2006/relationships/hyperlink" Target="https://t.me/ProgrammerZamanNow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udemy.com/course/pemrograman-go-lang-pemula-sampai-mahir/?referralCode=C9C831DC7A42D8714259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olang.org/pkg/context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Go-Lang Context</a:t>
            </a:r>
            <a:endParaRPr/>
          </a:p>
        </p:txBody>
      </p:sp>
      <p:sp>
        <p:nvSpPr>
          <p:cNvPr id="164" name="Google Shape;164;p25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Eko Kurniawan Khannedy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6"/>
          <p:cNvPicPr preferRelativeResize="0"/>
          <p:nvPr/>
        </p:nvPicPr>
        <p:blipFill rotWithShape="1">
          <a:blip r:embed="rId3">
            <a:alphaModFix/>
          </a:blip>
          <a:srcRect b="0" l="0" r="0" t="23717"/>
          <a:stretch/>
        </p:blipFill>
        <p:spPr>
          <a:xfrm>
            <a:off x="1800" y="487410"/>
            <a:ext cx="9144003" cy="465609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rgbClr val="FFFFFF"/>
                </a:solidFill>
              </a:rPr>
              <a:t>Eko Kurniawan Khannedy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71" name="Google Shape;171;p26"/>
          <p:cNvSpPr txBox="1"/>
          <p:nvPr>
            <p:ph idx="1" type="body"/>
          </p:nvPr>
        </p:nvSpPr>
        <p:spPr>
          <a:xfrm>
            <a:off x="729450" y="2078875"/>
            <a:ext cx="5366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Technical architect at one of the biggest ecommerce company in Indonesia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10+ years experiences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www.programmerzamannow.com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youtube.com/c/ProgrammerZamanNow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Eko Kurniawan Khannedy</a:t>
            </a:r>
            <a:endParaRPr/>
          </a:p>
        </p:txBody>
      </p:sp>
      <p:sp>
        <p:nvSpPr>
          <p:cNvPr id="177" name="Google Shape;177;p2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Telegram : </a:t>
            </a:r>
            <a:r>
              <a:rPr lang="id" u="sng">
                <a:solidFill>
                  <a:schemeClr val="hlink"/>
                </a:solidFill>
                <a:hlinkClick r:id="rId3"/>
              </a:rPr>
              <a:t>@khannedy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Facebook : </a:t>
            </a:r>
            <a:r>
              <a:rPr lang="id" u="sng">
                <a:solidFill>
                  <a:schemeClr val="hlink"/>
                </a:solidFill>
                <a:hlinkClick r:id="rId4"/>
              </a:rPr>
              <a:t>fb.com/ProgrammerZamanNow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Instagram : </a:t>
            </a:r>
            <a:r>
              <a:rPr lang="id" u="sng">
                <a:solidFill>
                  <a:schemeClr val="hlink"/>
                </a:solidFill>
                <a:hlinkClick r:id="rId5"/>
              </a:rPr>
              <a:t>instagram.com/programmerzamannow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Youtube : </a:t>
            </a:r>
            <a:r>
              <a:rPr lang="id" u="sng">
                <a:solidFill>
                  <a:schemeClr val="hlink"/>
                </a:solidFill>
                <a:hlinkClick r:id="rId6"/>
              </a:rPr>
              <a:t>youtube.com/c/ProgrammerZamanNow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Telegram Channel : </a:t>
            </a:r>
            <a:r>
              <a:rPr lang="id" u="sng">
                <a:solidFill>
                  <a:schemeClr val="hlink"/>
                </a:solidFill>
                <a:hlinkClick r:id="rId7"/>
              </a:rPr>
              <a:t>t.me/ProgrammerZamanNow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Email : echo.khannedy@gmail.com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Sebelum Belajar</a:t>
            </a:r>
            <a:endParaRPr/>
          </a:p>
        </p:txBody>
      </p:sp>
      <p:sp>
        <p:nvSpPr>
          <p:cNvPr id="183" name="Google Shape;183;p2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Dasar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Modules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Unit Test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Goroutines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https://www.udemy.com/course/pemrograman-go-lang-pemula-sampai-mahir/?referralCode=C9C831DC7A42D8714259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Agenda</a:t>
            </a:r>
            <a:endParaRPr/>
          </a:p>
        </p:txBody>
      </p:sp>
      <p:sp>
        <p:nvSpPr>
          <p:cNvPr id="189" name="Google Shape;189;p2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Pengenalan Context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Membuat Context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Context With Value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Context With Cancel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Context With Timeout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Context With Deadline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Pengenalan Context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Pengenalan Context</a:t>
            </a:r>
            <a:endParaRPr/>
          </a:p>
        </p:txBody>
      </p:sp>
      <p:sp>
        <p:nvSpPr>
          <p:cNvPr id="200" name="Google Shape;200;p3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Context merupakan sebuah data yang membawa value, sinyal cancel, sinyal timeout dan sinyal deadline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Context biasanya dibuat per request (misal setiap ada request masuk ke server web melalui http request)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Context digunakan untuk mempermudah kita meneruskan value, dan sinyal antar proses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Kenapa Context Perlu Dipelajari?</a:t>
            </a:r>
            <a:endParaRPr/>
          </a:p>
        </p:txBody>
      </p:sp>
      <p:sp>
        <p:nvSpPr>
          <p:cNvPr id="206" name="Google Shape;206;p3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Context di Golang biasa digunakan untuk mengirim data request atau sinyal ke proses lain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Dengan menggunakan context, ketika kita ingin membatalkan semua proses, kita cukup mengirim sinyal ke context, maka secara otomatis semua proses akan dibatalkan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Hampir semua bagian di Golang memanfaatkan context, seperti database, http server, http client, dan lain-lain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Bahkan di Google sendiri, ketika menggunakan Golang, context wajib digunakan dan selalu dikirim ke setiap function yang dikirim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9355" y="714837"/>
            <a:ext cx="5905300" cy="4276263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Cara Kerja Context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Context</a:t>
            </a:r>
            <a:endParaRPr/>
          </a:p>
        </p:txBody>
      </p:sp>
      <p:sp>
        <p:nvSpPr>
          <p:cNvPr id="218" name="Google Shape;218;p3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Context direpresentasikan di dalam sebuah interface Context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interface Context terdapat dalam package context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https://golang.org/pkg/context/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Interface Context</a:t>
            </a:r>
            <a:endParaRPr/>
          </a:p>
        </p:txBody>
      </p:sp>
      <p:pic>
        <p:nvPicPr>
          <p:cNvPr id="224" name="Google Shape;22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2" cy="293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Context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Context</a:t>
            </a:r>
            <a:endParaRPr/>
          </a:p>
        </p:txBody>
      </p:sp>
      <p:sp>
        <p:nvSpPr>
          <p:cNvPr id="235" name="Google Shape;235;p3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Karena Context adalah sebuah interface, untuk membuat context kita butuh sebuah struct yang sesuai dengan kontrak interface Context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Namun kita tidak perlu membuatnya secara manual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Di Golang package context terdapat function yang bisa kita gunakan untuk membuat Context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Function Membuat Context</a:t>
            </a:r>
            <a:endParaRPr/>
          </a:p>
        </p:txBody>
      </p:sp>
      <p:graphicFrame>
        <p:nvGraphicFramePr>
          <p:cNvPr id="241" name="Google Shape;241;p38"/>
          <p:cNvGraphicFramePr/>
          <p:nvPr/>
        </p:nvGraphicFramePr>
        <p:xfrm>
          <a:off x="952500" y="200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{9218E031-1559-4600-99D9-689720C6DDF6}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Function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Keterangan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context.Background()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Membuat context kosong. Tidak pernah dibatalkan, tidak pernah timeout, dan tidak memiliki value apapun. Biasanya digunakan di main function atau dalam test, atau dalam awal proses request terjadi.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context.TODO()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Membuat context kosong seperti Background(), namun biasanya menggunakan ini ketika belum jelas context apa yang ingin digunakan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Context</a:t>
            </a:r>
            <a:endParaRPr/>
          </a:p>
        </p:txBody>
      </p:sp>
      <p:pic>
        <p:nvPicPr>
          <p:cNvPr id="247" name="Google Shape;24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594309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Parent dan Child Context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Parent dan Child Context</a:t>
            </a:r>
            <a:endParaRPr/>
          </a:p>
        </p:txBody>
      </p:sp>
      <p:sp>
        <p:nvSpPr>
          <p:cNvPr id="258" name="Google Shape;258;p4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Context menganut konsep parent dan child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Artinya, saat kita membuat context, kita bisa membuat child context dari context yang sudah ada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Parent context bisa memiliki banyak child, namun child hanya bisa memiliki satu parent context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Konsep ini mirip dengan pewarisan di pemrograman berorientasi object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Diagram Parent dan Child Context</a:t>
            </a:r>
            <a:endParaRPr/>
          </a:p>
        </p:txBody>
      </p:sp>
      <p:pic>
        <p:nvPicPr>
          <p:cNvPr id="264" name="Google Shape;26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1725" y="2006250"/>
            <a:ext cx="5160553" cy="298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Hubungan Antara Parent dan Child Context</a:t>
            </a:r>
            <a:endParaRPr/>
          </a:p>
        </p:txBody>
      </p:sp>
      <p:sp>
        <p:nvSpPr>
          <p:cNvPr id="270" name="Google Shape;270;p4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Parent dan Child context akan selalu terhubung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nanti kita melakukan misal pembatalan context A, maka semua child dan sub child dari context A akan ikut dibatalkan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Namun jika misal kita membatalkan context B, hanya context B dan semua child dan sub child nya yang dibatalkan, parent context B tidak akan ikut dibatalkan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Begitu juga nanti saat kita menyisipkan data ke dalam context A, semua child dan sub child nya bisa mendapatkan data tersebut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Namun jika kita menyisipkan data di context B, hanya context B dan semua child dan sub child nya yang mendapat data, parent context B tidak akan mendapat data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Immutable</a:t>
            </a:r>
            <a:endParaRPr/>
          </a:p>
        </p:txBody>
      </p:sp>
      <p:sp>
        <p:nvSpPr>
          <p:cNvPr id="276" name="Google Shape;276;p4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Context merupakan object yang Immutable, artinya setelah Context dibuat, dia tidak bisa diubah lagi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Ketika kita menambahkan value ke dalam context, atau menambahkan pengaturan timeout dan yang lainnya, secara otomatis akan membentuk child context baru, bukan merubah context tersebut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Cara Membuat Child Context</a:t>
            </a:r>
            <a:endParaRPr/>
          </a:p>
        </p:txBody>
      </p:sp>
      <p:sp>
        <p:nvSpPr>
          <p:cNvPr id="282" name="Google Shape;282;p4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Cara membuat child context ada banyak caranya, yang akan kita bahas di materi-materi selanjutnya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Context With Value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Context With Value</a:t>
            </a:r>
            <a:endParaRPr/>
          </a:p>
        </p:txBody>
      </p:sp>
      <p:sp>
        <p:nvSpPr>
          <p:cNvPr id="293" name="Google Shape;293;p4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Pada saat awal membuat context, context tidak memiliki value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Kita bisa menambah sebuah value dengan data Pair (key - value) ke dalam context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kita menambah value ke context, secara otomatis akan tercipta child context baru, artinya original context nya tidak akan berubah sama sekali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membuat menambahkan value ke context, kita bisa menggunakan function </a:t>
            </a:r>
            <a:r>
              <a:rPr b="1" lang="id"/>
              <a:t>context.WithValue(parent, key, value)</a:t>
            </a:r>
            <a:endParaRPr b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Context With Value</a:t>
            </a:r>
            <a:endParaRPr/>
          </a:p>
        </p:txBody>
      </p:sp>
      <p:pic>
        <p:nvPicPr>
          <p:cNvPr id="299" name="Google Shape;29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8747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Context Get Value</a:t>
            </a:r>
            <a:endParaRPr/>
          </a:p>
        </p:txBody>
      </p:sp>
      <p:pic>
        <p:nvPicPr>
          <p:cNvPr id="305" name="Google Shape;30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199" cy="1628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Context With Cancel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Context With Cancel</a:t>
            </a:r>
            <a:endParaRPr/>
          </a:p>
        </p:txBody>
      </p:sp>
      <p:sp>
        <p:nvSpPr>
          <p:cNvPr id="316" name="Google Shape;316;p5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Selain menambahkan value ke context, kita juga bisa menambahkan sinyal cancel ke context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Kapan sinyal cancel diperlukan dalam context?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Biasanya ketika kita butuh menjalankan proses lain, dan kita ingin bisa memberi sinyal cancel ke proses tersebut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Biasanya proses ini berupa goroutine yang berbeda, sehingga dengan mudah jika kita ingin membatalkan eksekusi goroutine, kita bisa mengirim sinyal cancel ke context nya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Namun ingat, goroutine yang menggunakan context, tetap harus melakukan pengecekan terhadap context nya, jika tidak, tidak ada gunanya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membuat context dengan cancel signal, kita bisa menggunakan function </a:t>
            </a:r>
            <a:r>
              <a:rPr b="1" lang="id"/>
              <a:t>context.WithCancel(parent)</a:t>
            </a:r>
            <a:endParaRPr b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Contoh Goroutine Leak (1)</a:t>
            </a:r>
            <a:endParaRPr/>
          </a:p>
        </p:txBody>
      </p:sp>
      <p:pic>
        <p:nvPicPr>
          <p:cNvPr id="322" name="Google Shape;32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725492" cy="298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Contoh Goroutine Leak (2)</a:t>
            </a:r>
            <a:endParaRPr/>
          </a:p>
        </p:txBody>
      </p:sp>
      <p:pic>
        <p:nvPicPr>
          <p:cNvPr id="328" name="Google Shape;32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871160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Context With Cancel (1)</a:t>
            </a:r>
            <a:endParaRPr/>
          </a:p>
        </p:txBody>
      </p:sp>
      <p:pic>
        <p:nvPicPr>
          <p:cNvPr id="334" name="Google Shape;33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6833947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Context With Cancel (2)</a:t>
            </a:r>
            <a:endParaRPr/>
          </a:p>
        </p:txBody>
      </p:sp>
      <p:pic>
        <p:nvPicPr>
          <p:cNvPr id="340" name="Google Shape;340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6950061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Context With Timeout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Context With Timeout</a:t>
            </a:r>
            <a:endParaRPr/>
          </a:p>
        </p:txBody>
      </p:sp>
      <p:sp>
        <p:nvSpPr>
          <p:cNvPr id="351" name="Google Shape;351;p5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Selain menambahkan value ke context, dan juga sinyal cancel, kita juga bisa menambahkan sinyal cancel ke context secara otomatis dengan menggunakan pengaturan timeout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Dengan menggunakan pengaturan timeout, kita tidak perlu melakukan eksekusi cancel secara manual, cancel akan otomatis di eksekusi jika waktu timeout sudah terlewati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Penggunaan context dengan timeout sangat cocok ketika misal kita melakukan query ke database atau http api, namun ingin menentukan batas maksimal timeout nya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membuat context dengan cancel signal secara otomatis menggunakan timeout, kita bisa menggunakan function </a:t>
            </a:r>
            <a:r>
              <a:rPr b="1" lang="id"/>
              <a:t>context.WithTimeout(parent, duration)</a:t>
            </a:r>
            <a:endParaRPr b="1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Context With Timeout (1)</a:t>
            </a:r>
            <a:endParaRPr/>
          </a:p>
        </p:txBody>
      </p:sp>
      <p:pic>
        <p:nvPicPr>
          <p:cNvPr id="357" name="Google Shape;357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6547168" cy="298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Context With Timeout (2)</a:t>
            </a:r>
            <a:endParaRPr/>
          </a:p>
        </p:txBody>
      </p:sp>
      <p:pic>
        <p:nvPicPr>
          <p:cNvPr id="363" name="Google Shape;363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545978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6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Context With Deadline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6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Context With Deadline</a:t>
            </a:r>
            <a:endParaRPr/>
          </a:p>
        </p:txBody>
      </p:sp>
      <p:sp>
        <p:nvSpPr>
          <p:cNvPr id="374" name="Google Shape;374;p6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Selain menggunakan timeout untuk melakukan cancel secara otomatis, kita juga bisa menggunakan deadline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Pengaturan deadline sedikit berbeda dengan timeout, jika timeout kita beri waktu dari sekarang, kalo deadline ditentukan kapan waktu timeout nya, misal jam 12 siang hari ini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membuat context dengan cancel signal secara otomatis menggunakan deadline, kita bisa menggunakan function </a:t>
            </a:r>
            <a:r>
              <a:rPr b="1" lang="id"/>
              <a:t>context.WithDeadline(parent, time)</a:t>
            </a:r>
            <a:endParaRPr b="1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Context With Deadline</a:t>
            </a:r>
            <a:endParaRPr/>
          </a:p>
        </p:txBody>
      </p:sp>
      <p:pic>
        <p:nvPicPr>
          <p:cNvPr id="380" name="Google Shape;380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158590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Materi Selanjutnya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6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Materi Selanjutnya</a:t>
            </a:r>
            <a:endParaRPr/>
          </a:p>
        </p:txBody>
      </p:sp>
      <p:sp>
        <p:nvSpPr>
          <p:cNvPr id="391" name="Google Shape;391;p6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Database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Web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